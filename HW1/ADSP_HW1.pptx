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60" r:id="rId2"/>
    <p:sldId id="270" r:id="rId3"/>
    <p:sldId id="264" r:id="rId4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sz="20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sz="20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sz="20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sz="20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6171EE-DE17-4D7F-8721-0667C49421AD}" v="1" dt="2025-03-17T13:48:16.8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91" autoAdjust="0"/>
    <p:restoredTop sz="93881" autoAdjust="0"/>
  </p:normalViewPr>
  <p:slideViewPr>
    <p:cSldViewPr>
      <p:cViewPr varScale="1">
        <p:scale>
          <a:sx n="63" d="100"/>
          <a:sy n="63" d="100"/>
        </p:scale>
        <p:origin x="1380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11302128" userId="d5f3a3b8-ed07-4289-b6f8-c4f406d91dc3" providerId="ADAL" clId="{C76171EE-DE17-4D7F-8721-0667C49421AD}"/>
    <pc:docChg chg="custSel modSld">
      <pc:chgData name="M11302128" userId="d5f3a3b8-ed07-4289-b6f8-c4f406d91dc3" providerId="ADAL" clId="{C76171EE-DE17-4D7F-8721-0667C49421AD}" dt="2025-03-17T13:49:28.694" v="76" actId="20577"/>
      <pc:docMkLst>
        <pc:docMk/>
      </pc:docMkLst>
      <pc:sldChg chg="addSp modSp mod">
        <pc:chgData name="M11302128" userId="d5f3a3b8-ed07-4289-b6f8-c4f406d91dc3" providerId="ADAL" clId="{C76171EE-DE17-4D7F-8721-0667C49421AD}" dt="2025-03-17T13:49:28.694" v="76" actId="20577"/>
        <pc:sldMkLst>
          <pc:docMk/>
          <pc:sldMk cId="0" sldId="260"/>
        </pc:sldMkLst>
        <pc:spChg chg="mod">
          <ac:chgData name="M11302128" userId="d5f3a3b8-ed07-4289-b6f8-c4f406d91dc3" providerId="ADAL" clId="{C76171EE-DE17-4D7F-8721-0667C49421AD}" dt="2025-03-17T13:48:45.007" v="20" actId="20577"/>
          <ac:spMkLst>
            <pc:docMk/>
            <pc:sldMk cId="0" sldId="260"/>
            <ac:spMk id="17" creationId="{3059F9AB-A6F9-4D60-84C6-62048D0088C2}"/>
          </ac:spMkLst>
        </pc:spChg>
        <pc:spChg chg="mod">
          <ac:chgData name="M11302128" userId="d5f3a3b8-ed07-4289-b6f8-c4f406d91dc3" providerId="ADAL" clId="{C76171EE-DE17-4D7F-8721-0667C49421AD}" dt="2025-03-17T13:48:36.052" v="6" actId="404"/>
          <ac:spMkLst>
            <pc:docMk/>
            <pc:sldMk cId="0" sldId="260"/>
            <ac:spMk id="18" creationId="{EFB6D885-50DC-4EFA-9C48-F4416D8C37DB}"/>
          </ac:spMkLst>
        </pc:spChg>
        <pc:spChg chg="mod">
          <ac:chgData name="M11302128" userId="d5f3a3b8-ed07-4289-b6f8-c4f406d91dc3" providerId="ADAL" clId="{C76171EE-DE17-4D7F-8721-0667C49421AD}" dt="2025-03-17T13:49:28.694" v="76" actId="20577"/>
          <ac:spMkLst>
            <pc:docMk/>
            <pc:sldMk cId="0" sldId="260"/>
            <ac:spMk id="2051" creationId="{00000000-0000-0000-0000-000000000000}"/>
          </ac:spMkLst>
        </pc:spChg>
        <pc:spChg chg="mod">
          <ac:chgData name="M11302128" userId="d5f3a3b8-ed07-4289-b6f8-c4f406d91dc3" providerId="ADAL" clId="{C76171EE-DE17-4D7F-8721-0667C49421AD}" dt="2025-03-17T13:48:16.811" v="2" actId="164"/>
          <ac:spMkLst>
            <pc:docMk/>
            <pc:sldMk cId="0" sldId="260"/>
            <ac:spMk id="2053" creationId="{00000000-0000-0000-0000-000000000000}"/>
          </ac:spMkLst>
        </pc:spChg>
        <pc:spChg chg="mod">
          <ac:chgData name="M11302128" userId="d5f3a3b8-ed07-4289-b6f8-c4f406d91dc3" providerId="ADAL" clId="{C76171EE-DE17-4D7F-8721-0667C49421AD}" dt="2025-03-17T13:48:16.811" v="2" actId="164"/>
          <ac:spMkLst>
            <pc:docMk/>
            <pc:sldMk cId="0" sldId="260"/>
            <ac:spMk id="2054" creationId="{00000000-0000-0000-0000-000000000000}"/>
          </ac:spMkLst>
        </pc:spChg>
        <pc:spChg chg="mod">
          <ac:chgData name="M11302128" userId="d5f3a3b8-ed07-4289-b6f8-c4f406d91dc3" providerId="ADAL" clId="{C76171EE-DE17-4D7F-8721-0667C49421AD}" dt="2025-03-17T13:48:16.811" v="2" actId="164"/>
          <ac:spMkLst>
            <pc:docMk/>
            <pc:sldMk cId="0" sldId="260"/>
            <ac:spMk id="2056" creationId="{00000000-0000-0000-0000-000000000000}"/>
          </ac:spMkLst>
        </pc:spChg>
        <pc:spChg chg="mod">
          <ac:chgData name="M11302128" userId="d5f3a3b8-ed07-4289-b6f8-c4f406d91dc3" providerId="ADAL" clId="{C76171EE-DE17-4D7F-8721-0667C49421AD}" dt="2025-03-17T13:48:30.124" v="3" actId="255"/>
          <ac:spMkLst>
            <pc:docMk/>
            <pc:sldMk cId="0" sldId="260"/>
            <ac:spMk id="2057" creationId="{00000000-0000-0000-0000-000000000000}"/>
          </ac:spMkLst>
        </pc:spChg>
        <pc:spChg chg="mod">
          <ac:chgData name="M11302128" userId="d5f3a3b8-ed07-4289-b6f8-c4f406d91dc3" providerId="ADAL" clId="{C76171EE-DE17-4D7F-8721-0667C49421AD}" dt="2025-03-17T13:48:30.124" v="3" actId="255"/>
          <ac:spMkLst>
            <pc:docMk/>
            <pc:sldMk cId="0" sldId="260"/>
            <ac:spMk id="2058" creationId="{00000000-0000-0000-0000-000000000000}"/>
          </ac:spMkLst>
        </pc:spChg>
        <pc:spChg chg="mod">
          <ac:chgData name="M11302128" userId="d5f3a3b8-ed07-4289-b6f8-c4f406d91dc3" providerId="ADAL" clId="{C76171EE-DE17-4D7F-8721-0667C49421AD}" dt="2025-03-17T13:48:30.124" v="3" actId="255"/>
          <ac:spMkLst>
            <pc:docMk/>
            <pc:sldMk cId="0" sldId="260"/>
            <ac:spMk id="2059" creationId="{00000000-0000-0000-0000-000000000000}"/>
          </ac:spMkLst>
        </pc:spChg>
        <pc:spChg chg="mod">
          <ac:chgData name="M11302128" userId="d5f3a3b8-ed07-4289-b6f8-c4f406d91dc3" providerId="ADAL" clId="{C76171EE-DE17-4D7F-8721-0667C49421AD}" dt="2025-03-17T13:48:30.124" v="3" actId="255"/>
          <ac:spMkLst>
            <pc:docMk/>
            <pc:sldMk cId="0" sldId="260"/>
            <ac:spMk id="2060" creationId="{00000000-0000-0000-0000-000000000000}"/>
          </ac:spMkLst>
        </pc:spChg>
        <pc:spChg chg="mod">
          <ac:chgData name="M11302128" userId="d5f3a3b8-ed07-4289-b6f8-c4f406d91dc3" providerId="ADAL" clId="{C76171EE-DE17-4D7F-8721-0667C49421AD}" dt="2025-03-17T13:48:30.124" v="3" actId="255"/>
          <ac:spMkLst>
            <pc:docMk/>
            <pc:sldMk cId="0" sldId="260"/>
            <ac:spMk id="2061" creationId="{00000000-0000-0000-0000-000000000000}"/>
          </ac:spMkLst>
        </pc:spChg>
        <pc:spChg chg="mod">
          <ac:chgData name="M11302128" userId="d5f3a3b8-ed07-4289-b6f8-c4f406d91dc3" providerId="ADAL" clId="{C76171EE-DE17-4D7F-8721-0667C49421AD}" dt="2025-03-17T13:48:16.811" v="2" actId="164"/>
          <ac:spMkLst>
            <pc:docMk/>
            <pc:sldMk cId="0" sldId="260"/>
            <ac:spMk id="2062" creationId="{00000000-0000-0000-0000-000000000000}"/>
          </ac:spMkLst>
        </pc:spChg>
        <pc:grpChg chg="add mod">
          <ac:chgData name="M11302128" userId="d5f3a3b8-ed07-4289-b6f8-c4f406d91dc3" providerId="ADAL" clId="{C76171EE-DE17-4D7F-8721-0667C49421AD}" dt="2025-03-17T13:48:16.811" v="2" actId="164"/>
          <ac:grpSpMkLst>
            <pc:docMk/>
            <pc:sldMk cId="0" sldId="260"/>
            <ac:grpSpMk id="2" creationId="{2D9EFBD2-97EB-0AF6-03FC-B2FADF601445}"/>
          </ac:grpSpMkLst>
        </pc:gr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32767" units="dev"/>
        </inkml:traceFormat>
        <inkml:channelProperties>
          <inkml:channelProperty channel="X" name="resolution" value="3971.75757" units="1/in"/>
          <inkml:channelProperty channel="Y" name="resolution" value="5295.24854" units="1/in"/>
          <inkml:channelProperty channel="F" name="resolution" value="0" units="1/dev"/>
        </inkml:channelProperties>
      </inkml:inkSource>
      <inkml:timestamp xml:id="ts0" timeString="2015-03-20T01:56:36.22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25-10 129,'-16'0'3096,"16"0"-258,0 0-516,0 0-903,0 0-387,0 0-516,0 0-129,0 0-645,0 0 0,0 0-516,0 0-258,-9 14-258,9-14-387,0 0-774,0 0-645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54B989-2030-411F-BCE3-E9688286388B}" type="datetimeFigureOut">
              <a:rPr lang="zh-TW" altLang="en-US" smtClean="0"/>
              <a:t>2025/3/10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EB331E-0C80-49B6-9E75-667CABB3574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8887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EB331E-0C80-49B6-9E75-667CABB35746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72323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0321CD-7819-4205-BE21-61553F7D44F7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B1BF8B-51D8-48D6-B4D4-4F27FB160E79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78D6D1-D605-49FD-ADDB-4EE669EE7B30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AC6308-9413-43E9-8CEC-02B94964EE47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D5EDA7-2CD4-48FB-AB4B-AAB02F42EF27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CEC9CB-2795-4300-A7C6-FC822DCDEEDE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32F3E6-F947-44DA-8300-836FB42A7F95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664DDE-3112-4971-843A-E763B1C3B338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C47D22-A70B-4434-93BA-93AD8D56B913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BFE6C2-734F-4C97-BA78-3FC4A769A60B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3773AE-D7F6-4376-AB87-44B9F9570FD9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endParaRPr lang="en-US" altLang="zh-TW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</a:defRPr>
            </a:lvl1pPr>
          </a:lstStyle>
          <a:p>
            <a:endParaRPr lang="en-US" altLang="zh-TW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</a:defRPr>
            </a:lvl1pPr>
          </a:lstStyle>
          <a:p>
            <a:fld id="{107B9F50-34D1-44BD-8A3E-E53BE6C28909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2"/>
          <p:cNvSpPr txBox="1">
            <a:spLocks noChangeArrowheads="1"/>
          </p:cNvSpPr>
          <p:nvPr/>
        </p:nvSpPr>
        <p:spPr bwMode="auto">
          <a:xfrm>
            <a:off x="250825" y="260350"/>
            <a:ext cx="4249738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b="1" dirty="0">
                <a:solidFill>
                  <a:srgbClr val="3333FF"/>
                </a:solidFill>
                <a:ea typeface="標楷體" pitchFamily="65" charset="-120"/>
              </a:rPr>
              <a:t>Homework 1  (Due: March 26</a:t>
            </a:r>
            <a:r>
              <a:rPr lang="en-US" altLang="zh-TW" b="1" baseline="30000" dirty="0">
                <a:solidFill>
                  <a:srgbClr val="3333FF"/>
                </a:solidFill>
                <a:ea typeface="標楷體" pitchFamily="65" charset="-120"/>
              </a:rPr>
              <a:t>th</a:t>
            </a:r>
            <a:r>
              <a:rPr lang="en-US" altLang="zh-TW" b="1" dirty="0">
                <a:solidFill>
                  <a:srgbClr val="3333FF"/>
                </a:solidFill>
                <a:ea typeface="標楷體" pitchFamily="65" charset="-120"/>
              </a:rPr>
              <a:t>)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250825" y="1048260"/>
            <a:ext cx="8569325" cy="11880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zh-TW" sz="1600" dirty="0"/>
              <a:t>(1) Design a Mini-max </a:t>
            </a:r>
            <a:r>
              <a:rPr lang="en-US" altLang="zh-TW" sz="1600" b="1" dirty="0" err="1"/>
              <a:t>highpass</a:t>
            </a:r>
            <a:r>
              <a:rPr lang="en-US" altLang="zh-TW" sz="1600" dirty="0"/>
              <a:t> FIR filter such that                                                                (40 scores)    </a:t>
            </a:r>
            <a:endParaRPr lang="en-US" altLang="zh-TW" sz="1600" dirty="0">
              <a:ea typeface="標楷體" pitchFamily="65" charset="-120"/>
            </a:endParaRPr>
          </a:p>
          <a:p>
            <a:pPr marL="285750" indent="-285750" eaLnBrk="0" hangingPunct="0">
              <a:spcBef>
                <a:spcPct val="15000"/>
              </a:spcBef>
              <a:buFont typeface="Wingdings" panose="05000000000000000000" pitchFamily="2" charset="2"/>
              <a:buChar char=""/>
            </a:pPr>
            <a:r>
              <a:rPr lang="en-US" altLang="zh-TW" sz="1600" dirty="0"/>
              <a:t>Filter length = 19,</a:t>
            </a:r>
            <a:r>
              <a:rPr lang="en-US" altLang="zh-TW" sz="1600" dirty="0">
                <a:sym typeface="Wingdings" pitchFamily="2" charset="2"/>
              </a:rPr>
              <a:t>  </a:t>
            </a:r>
            <a:r>
              <a:rPr lang="en-US" altLang="zh-TW" sz="1600" dirty="0"/>
              <a:t> Sampling frequency </a:t>
            </a:r>
            <a:r>
              <a:rPr lang="en-US" altLang="zh-TW" sz="1600" i="1" dirty="0"/>
              <a:t>f</a:t>
            </a:r>
            <a:r>
              <a:rPr lang="en-US" altLang="zh-TW" sz="1600" i="1" baseline="-25000" dirty="0"/>
              <a:t>s</a:t>
            </a:r>
            <a:r>
              <a:rPr lang="en-US" altLang="zh-TW" sz="1600" dirty="0"/>
              <a:t> = 8000Hz, </a:t>
            </a:r>
            <a:r>
              <a:rPr lang="en-US" altLang="zh-TW" sz="1600" dirty="0">
                <a:sym typeface="Wingdings 2" pitchFamily="18" charset="2"/>
              </a:rPr>
              <a:t> Stop Band  0~2000Hz   </a:t>
            </a:r>
          </a:p>
          <a:p>
            <a:pPr marL="285750" indent="-285750" eaLnBrk="0" hangingPunct="0">
              <a:spcBef>
                <a:spcPct val="15000"/>
              </a:spcBef>
              <a:buFont typeface="Wingdings 2" panose="05020102010507070707" pitchFamily="18" charset="2"/>
              <a:buChar char="m"/>
            </a:pPr>
            <a:r>
              <a:rPr lang="en-US" altLang="zh-TW" sz="1600" dirty="0">
                <a:sym typeface="Wingdings 2" pitchFamily="18" charset="2"/>
              </a:rPr>
              <a:t>Transition band: 2000~2400 Hz, </a:t>
            </a:r>
          </a:p>
          <a:p>
            <a:pPr eaLnBrk="0" hangingPunct="0">
              <a:spcBef>
                <a:spcPct val="15000"/>
              </a:spcBef>
            </a:pPr>
            <a:r>
              <a:rPr lang="en-US" altLang="zh-TW" sz="1600" dirty="0">
                <a:sym typeface="Wingdings 2" pitchFamily="18" charset="2"/>
              </a:rPr>
              <a:t> Weighting function: </a:t>
            </a:r>
            <a:r>
              <a:rPr lang="en-US" altLang="zh-TW" sz="1600" i="1" dirty="0">
                <a:sym typeface="Wingdings 2" pitchFamily="18" charset="2"/>
              </a:rPr>
              <a:t>W</a:t>
            </a:r>
            <a:r>
              <a:rPr lang="en-US" altLang="zh-TW" sz="1600" dirty="0">
                <a:sym typeface="Wingdings 2" pitchFamily="18" charset="2"/>
              </a:rPr>
              <a:t>(</a:t>
            </a:r>
            <a:r>
              <a:rPr lang="en-US" altLang="zh-TW" sz="1600" i="1" dirty="0">
                <a:sym typeface="Wingdings 2" pitchFamily="18" charset="2"/>
              </a:rPr>
              <a:t>F</a:t>
            </a:r>
            <a:r>
              <a:rPr lang="en-US" altLang="zh-TW" sz="1600" dirty="0">
                <a:sym typeface="Wingdings 2" pitchFamily="18" charset="2"/>
              </a:rPr>
              <a:t>) = 1 for passband, </a:t>
            </a:r>
            <a:r>
              <a:rPr lang="en-US" altLang="zh-TW" sz="1600" i="1" dirty="0">
                <a:sym typeface="Wingdings 2" pitchFamily="18" charset="2"/>
              </a:rPr>
              <a:t>W</a:t>
            </a:r>
            <a:r>
              <a:rPr lang="en-US" altLang="zh-TW" sz="1600" dirty="0">
                <a:sym typeface="Wingdings 2" pitchFamily="18" charset="2"/>
              </a:rPr>
              <a:t>(</a:t>
            </a:r>
            <a:r>
              <a:rPr lang="en-US" altLang="zh-TW" sz="1600" i="1" dirty="0">
                <a:sym typeface="Wingdings 2" pitchFamily="18" charset="2"/>
              </a:rPr>
              <a:t>F</a:t>
            </a:r>
            <a:r>
              <a:rPr lang="en-US" altLang="zh-TW" sz="1600" dirty="0">
                <a:sym typeface="Wingdings 2" pitchFamily="18" charset="2"/>
              </a:rPr>
              <a:t>) = 0.6 for stop band </a:t>
            </a:r>
            <a:r>
              <a:rPr lang="en-US" altLang="zh-TW" sz="1600" dirty="0">
                <a:sym typeface="Symbol" pitchFamily="18" charset="2"/>
              </a:rPr>
              <a:t>. </a:t>
            </a:r>
            <a:r>
              <a:rPr lang="en-US" altLang="zh-TW" sz="1600" dirty="0">
                <a:sym typeface="Wingdings 2" pitchFamily="18" charset="2"/>
              </a:rPr>
              <a:t> Set </a:t>
            </a:r>
            <a:r>
              <a:rPr lang="en-US" altLang="zh-TW" sz="1600" dirty="0">
                <a:sym typeface="Symbol" pitchFamily="18" charset="2"/>
              </a:rPr>
              <a:t></a:t>
            </a:r>
            <a:r>
              <a:rPr lang="en-US" altLang="zh-TW" sz="1600" dirty="0">
                <a:sym typeface="Wingdings 2" pitchFamily="18" charset="2"/>
              </a:rPr>
              <a:t> = 0.0001 in Step 5.</a:t>
            </a:r>
            <a:r>
              <a:rPr lang="en-US" altLang="zh-TW" sz="1600" dirty="0">
                <a:latin typeface="Arial" charset="0"/>
                <a:sym typeface="Wingdings 2" pitchFamily="18" charset="2"/>
              </a:rPr>
              <a:t> </a:t>
            </a:r>
            <a:r>
              <a:rPr lang="en-US" altLang="zh-TW" sz="1600" dirty="0">
                <a:sym typeface="Symbol" pitchFamily="18" charset="2"/>
              </a:rPr>
              <a:t>           </a:t>
            </a:r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 flipV="1">
            <a:off x="1081696" y="4027763"/>
            <a:ext cx="23764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TW" altLang="en-US"/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2D9EFBD2-97EB-0AF6-03FC-B2FADF601445}"/>
              </a:ext>
            </a:extLst>
          </p:cNvPr>
          <p:cNvGrpSpPr/>
          <p:nvPr/>
        </p:nvGrpSpPr>
        <p:grpSpPr>
          <a:xfrm>
            <a:off x="867383" y="2432574"/>
            <a:ext cx="5254625" cy="2180570"/>
            <a:chOff x="867383" y="2432574"/>
            <a:chExt cx="5254625" cy="2180570"/>
          </a:xfrm>
        </p:grpSpPr>
        <p:sp>
          <p:nvSpPr>
            <p:cNvPr id="2053" name="Line 5"/>
            <p:cNvSpPr>
              <a:spLocks noChangeShapeType="1"/>
            </p:cNvSpPr>
            <p:nvPr/>
          </p:nvSpPr>
          <p:spPr bwMode="auto">
            <a:xfrm flipV="1">
              <a:off x="3458183" y="2582358"/>
              <a:ext cx="23764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054" name="Line 6"/>
            <p:cNvSpPr>
              <a:spLocks noChangeShapeType="1"/>
            </p:cNvSpPr>
            <p:nvPr/>
          </p:nvSpPr>
          <p:spPr bwMode="auto">
            <a:xfrm flipV="1">
              <a:off x="3459770" y="2577037"/>
              <a:ext cx="0" cy="14668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056" name="Line 8"/>
            <p:cNvSpPr>
              <a:spLocks noChangeShapeType="1"/>
            </p:cNvSpPr>
            <p:nvPr/>
          </p:nvSpPr>
          <p:spPr bwMode="auto">
            <a:xfrm>
              <a:off x="1081696" y="4023255"/>
              <a:ext cx="5040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057" name="Text Box 9"/>
            <p:cNvSpPr txBox="1">
              <a:spLocks noChangeArrowheads="1"/>
            </p:cNvSpPr>
            <p:nvPr/>
          </p:nvSpPr>
          <p:spPr bwMode="auto">
            <a:xfrm>
              <a:off x="867383" y="4089924"/>
              <a:ext cx="720725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400" dirty="0">
                  <a:ea typeface="標楷體" pitchFamily="65" charset="-120"/>
                </a:rPr>
                <a:t>0 Hz</a:t>
              </a:r>
            </a:p>
          </p:txBody>
        </p:sp>
        <p:sp>
          <p:nvSpPr>
            <p:cNvPr id="2058" name="Text Box 10"/>
            <p:cNvSpPr txBox="1">
              <a:spLocks noChangeArrowheads="1"/>
            </p:cNvSpPr>
            <p:nvPr/>
          </p:nvSpPr>
          <p:spPr bwMode="auto">
            <a:xfrm>
              <a:off x="2739045" y="4089924"/>
              <a:ext cx="719138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400" dirty="0">
                  <a:ea typeface="標楷體" pitchFamily="65" charset="-120"/>
                </a:rPr>
                <a:t>2000 Hz</a:t>
              </a:r>
            </a:p>
          </p:txBody>
        </p:sp>
        <p:sp>
          <p:nvSpPr>
            <p:cNvPr id="2059" name="Text Box 11"/>
            <p:cNvSpPr txBox="1">
              <a:spLocks noChangeArrowheads="1"/>
            </p:cNvSpPr>
            <p:nvPr/>
          </p:nvSpPr>
          <p:spPr bwMode="auto">
            <a:xfrm>
              <a:off x="3212933" y="4089850"/>
              <a:ext cx="719138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400" dirty="0">
                  <a:ea typeface="標楷體" pitchFamily="65" charset="-120"/>
                </a:rPr>
                <a:t>2200 Hz</a:t>
              </a:r>
            </a:p>
          </p:txBody>
        </p:sp>
        <p:sp>
          <p:nvSpPr>
            <p:cNvPr id="2060" name="Text Box 12"/>
            <p:cNvSpPr txBox="1">
              <a:spLocks noChangeArrowheads="1"/>
            </p:cNvSpPr>
            <p:nvPr/>
          </p:nvSpPr>
          <p:spPr bwMode="auto">
            <a:xfrm>
              <a:off x="3747108" y="4089924"/>
              <a:ext cx="719137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TW" sz="1400" dirty="0">
                  <a:ea typeface="標楷體" pitchFamily="65" charset="-120"/>
                </a:rPr>
                <a:t>2400 Hz</a:t>
              </a:r>
            </a:p>
          </p:txBody>
        </p:sp>
        <p:sp>
          <p:nvSpPr>
            <p:cNvPr id="2061" name="Line 14"/>
            <p:cNvSpPr>
              <a:spLocks noChangeShapeType="1"/>
            </p:cNvSpPr>
            <p:nvPr/>
          </p:nvSpPr>
          <p:spPr bwMode="auto">
            <a:xfrm>
              <a:off x="3026383" y="2505599"/>
              <a:ext cx="0" cy="16557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zh-TW" altLang="en-US" sz="1400"/>
            </a:p>
          </p:txBody>
        </p:sp>
        <p:sp>
          <p:nvSpPr>
            <p:cNvPr id="2062" name="Line 15"/>
            <p:cNvSpPr>
              <a:spLocks noChangeShapeType="1"/>
            </p:cNvSpPr>
            <p:nvPr/>
          </p:nvSpPr>
          <p:spPr bwMode="auto">
            <a:xfrm>
              <a:off x="3891570" y="2432574"/>
              <a:ext cx="0" cy="17287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049" name="Ink 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362933" y="3739087"/>
              <a:ext cx="9525" cy="3175"/>
            </p14:xfrm>
          </p:contentPart>
        </mc:Choice>
        <mc:Fallback xmlns="">
          <p:pic>
            <p:nvPicPr>
              <p:cNvPr id="2049" name="Ink 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57071" y="3730753"/>
                <a:ext cx="17951" cy="17859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Rectangle 4">
            <a:extLst>
              <a:ext uri="{FF2B5EF4-FFF2-40B4-BE49-F238E27FC236}">
                <a16:creationId xmlns:a16="http://schemas.microsoft.com/office/drawing/2014/main" id="{3059F9AB-A6F9-4D60-84C6-62048D0088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344" y="5715099"/>
            <a:ext cx="85693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spcBef>
                <a:spcPct val="15000"/>
              </a:spcBef>
            </a:pPr>
            <a:r>
              <a:rPr lang="en-US" altLang="zh-TW" sz="1400" u="sng" dirty="0"/>
              <a:t>Show (a) the frequency response,  (b) the impulse response </a:t>
            </a:r>
            <a:r>
              <a:rPr lang="en-US" altLang="zh-TW" sz="1400" i="1" u="sng" dirty="0"/>
              <a:t>h</a:t>
            </a:r>
            <a:r>
              <a:rPr lang="en-US" altLang="zh-TW" sz="1400" u="sng" dirty="0"/>
              <a:t>[</a:t>
            </a:r>
            <a:r>
              <a:rPr lang="en-US" altLang="zh-TW" sz="1400" i="1" u="sng" dirty="0"/>
              <a:t>n</a:t>
            </a:r>
            <a:r>
              <a:rPr lang="en-US" altLang="zh-TW" sz="1400" u="sng" dirty="0"/>
              <a:t>], and</a:t>
            </a:r>
            <a:r>
              <a:rPr lang="en-US" altLang="zh-TW" sz="1400" dirty="0"/>
              <a:t> </a:t>
            </a:r>
            <a:r>
              <a:rPr lang="en-US" altLang="zh-TW" sz="1400" u="sng" dirty="0"/>
              <a:t>(c) the maximal error for each iteration</a:t>
            </a:r>
            <a:r>
              <a:rPr lang="en-US" altLang="zh-TW" sz="1400" dirty="0"/>
              <a:t>. </a:t>
            </a:r>
          </a:p>
        </p:txBody>
      </p:sp>
      <p:sp>
        <p:nvSpPr>
          <p:cNvPr id="18" name="Text Box 31">
            <a:extLst>
              <a:ext uri="{FF2B5EF4-FFF2-40B4-BE49-F238E27FC236}">
                <a16:creationId xmlns:a16="http://schemas.microsoft.com/office/drawing/2014/main" id="{EFB6D885-50DC-4EFA-9C48-F4416D8C37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223" y="4894082"/>
            <a:ext cx="835292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1400" b="1" u="sng" dirty="0">
                <a:solidFill>
                  <a:srgbClr val="FF0000"/>
                </a:solidFill>
              </a:rPr>
              <a:t>※  The </a:t>
            </a:r>
            <a:r>
              <a:rPr lang="en-US" altLang="zh-TW" sz="1400" b="1" u="sng" dirty="0" err="1">
                <a:solidFill>
                  <a:srgbClr val="FF0000"/>
                </a:solidFill>
              </a:rPr>
              <a:t>Matlab</a:t>
            </a:r>
            <a:r>
              <a:rPr lang="en-US" altLang="zh-TW" sz="1400" b="1" u="sng" dirty="0">
                <a:solidFill>
                  <a:srgbClr val="FF0000"/>
                </a:solidFill>
              </a:rPr>
              <a:t> or Python code </a:t>
            </a:r>
            <a:r>
              <a:rPr lang="en-US" altLang="zh-TW" sz="1400" b="1" u="sng" dirty="0">
                <a:solidFill>
                  <a:srgbClr val="FF0000"/>
                </a:solidFill>
                <a:ea typeface="標楷體" pitchFamily="65" charset="-120"/>
                <a:cs typeface="Times New Roman" pitchFamily="18" charset="0"/>
              </a:rPr>
              <a:t>should be</a:t>
            </a:r>
            <a:r>
              <a:rPr lang="zh-TW" altLang="en-US" sz="1400" b="1" u="sng" dirty="0">
                <a:solidFill>
                  <a:srgbClr val="FF0000"/>
                </a:solidFill>
                <a:ea typeface="標楷體" pitchFamily="65" charset="-120"/>
                <a:cs typeface="Times New Roman" pitchFamily="18" charset="0"/>
              </a:rPr>
              <a:t> </a:t>
            </a:r>
            <a:r>
              <a:rPr lang="en-US" altLang="zh-TW" sz="1400" b="1" u="sng" dirty="0">
                <a:solidFill>
                  <a:srgbClr val="FF0000"/>
                </a:solidFill>
                <a:ea typeface="標楷體" pitchFamily="65" charset="-120"/>
                <a:cs typeface="Times New Roman" pitchFamily="18" charset="0"/>
              </a:rPr>
              <a:t>handed out by </a:t>
            </a:r>
            <a:r>
              <a:rPr lang="en-US" altLang="zh-TW" sz="1400" b="1" u="sng" dirty="0" err="1">
                <a:solidFill>
                  <a:srgbClr val="FF0000"/>
                </a:solidFill>
                <a:ea typeface="標楷體" pitchFamily="65" charset="-120"/>
                <a:cs typeface="Times New Roman" pitchFamily="18" charset="0"/>
              </a:rPr>
              <a:t>NTUCool</a:t>
            </a:r>
            <a:r>
              <a:rPr lang="en-US" altLang="zh-TW" sz="1400" b="1" u="sng" dirty="0">
                <a:solidFill>
                  <a:srgbClr val="FF0000"/>
                </a:solidFill>
                <a:ea typeface="標楷體" pitchFamily="65" charset="-120"/>
                <a:cs typeface="Times New Roman" pitchFamily="18" charset="0"/>
              </a:rPr>
              <a:t>, too.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178498" y="2127843"/>
            <a:ext cx="8787005" cy="630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69875" indent="-269875">
              <a:spcBef>
                <a:spcPct val="50000"/>
              </a:spcBef>
            </a:pPr>
            <a:r>
              <a:rPr lang="en-US" altLang="zh-TW" sz="1400" dirty="0">
                <a:ea typeface="標楷體" pitchFamily="65" charset="-120"/>
              </a:rPr>
              <a:t>(3) Discuss how to implement </a:t>
            </a:r>
            <a:r>
              <a:rPr lang="en-US" altLang="zh-TW" sz="1400" i="1" dirty="0">
                <a:ea typeface="標楷體" pitchFamily="65" charset="-120"/>
              </a:rPr>
              <a:t>y</a:t>
            </a:r>
            <a:r>
              <a:rPr lang="en-US" altLang="zh-TW" sz="1400" dirty="0">
                <a:ea typeface="標楷體" pitchFamily="65" charset="-120"/>
              </a:rPr>
              <a:t>[</a:t>
            </a:r>
            <a:r>
              <a:rPr lang="en-US" altLang="zh-TW" sz="1400" i="1" dirty="0">
                <a:ea typeface="標楷體" pitchFamily="65" charset="-120"/>
              </a:rPr>
              <a:t>n</a:t>
            </a:r>
            <a:r>
              <a:rPr lang="en-US" altLang="zh-TW" sz="1400" dirty="0">
                <a:ea typeface="標楷體" pitchFamily="65" charset="-120"/>
              </a:rPr>
              <a:t>] = </a:t>
            </a:r>
            <a:r>
              <a:rPr lang="en-US" altLang="zh-TW" sz="1400" i="1" dirty="0">
                <a:ea typeface="標楷體" pitchFamily="65" charset="-120"/>
              </a:rPr>
              <a:t>x</a:t>
            </a:r>
            <a:r>
              <a:rPr lang="en-US" altLang="zh-TW" sz="1400" dirty="0">
                <a:ea typeface="標楷體" pitchFamily="65" charset="-120"/>
              </a:rPr>
              <a:t>[</a:t>
            </a:r>
            <a:r>
              <a:rPr lang="en-US" altLang="zh-TW" sz="1400" i="1" dirty="0">
                <a:ea typeface="標楷體" pitchFamily="65" charset="-120"/>
              </a:rPr>
              <a:t>n</a:t>
            </a:r>
            <a:r>
              <a:rPr lang="en-US" altLang="zh-TW" sz="1400" dirty="0">
                <a:ea typeface="標楷體" pitchFamily="65" charset="-120"/>
              </a:rPr>
              <a:t>] * </a:t>
            </a:r>
            <a:r>
              <a:rPr lang="en-US" altLang="zh-TW" sz="1400" i="1" dirty="0">
                <a:ea typeface="標楷體" pitchFamily="65" charset="-120"/>
              </a:rPr>
              <a:t>h</a:t>
            </a:r>
            <a:r>
              <a:rPr lang="en-US" altLang="zh-TW" sz="1400" dirty="0">
                <a:ea typeface="標楷體" pitchFamily="65" charset="-120"/>
              </a:rPr>
              <a:t>[</a:t>
            </a:r>
            <a:r>
              <a:rPr lang="en-US" altLang="zh-TW" sz="1400" i="1" dirty="0">
                <a:ea typeface="標楷體" pitchFamily="65" charset="-120"/>
              </a:rPr>
              <a:t>n</a:t>
            </a:r>
            <a:r>
              <a:rPr lang="en-US" altLang="zh-TW" sz="1400" dirty="0">
                <a:ea typeface="標楷體" pitchFamily="65" charset="-120"/>
              </a:rPr>
              <a:t>] efficiently where </a:t>
            </a:r>
            <a:r>
              <a:rPr lang="en-US" altLang="zh-TW" sz="1400" i="1" dirty="0">
                <a:ea typeface="標楷體" pitchFamily="65" charset="-120"/>
              </a:rPr>
              <a:t>  h</a:t>
            </a:r>
            <a:r>
              <a:rPr lang="en-US" altLang="zh-TW" sz="1400" dirty="0">
                <a:ea typeface="標楷體" pitchFamily="65" charset="-120"/>
              </a:rPr>
              <a:t>[</a:t>
            </a:r>
            <a:r>
              <a:rPr lang="en-US" altLang="zh-TW" sz="1400" i="1" dirty="0">
                <a:ea typeface="標楷體" pitchFamily="65" charset="-120"/>
              </a:rPr>
              <a:t>n</a:t>
            </a:r>
            <a:r>
              <a:rPr lang="en-US" altLang="zh-TW" sz="1400" dirty="0">
                <a:ea typeface="標楷體" pitchFamily="65" charset="-120"/>
              </a:rPr>
              <a:t>] = (0.7</a:t>
            </a:r>
            <a:r>
              <a:rPr lang="en-US" altLang="zh-TW" sz="1400" i="1" baseline="30000" dirty="0">
                <a:ea typeface="標楷體" pitchFamily="65" charset="-120"/>
              </a:rPr>
              <a:t>n</a:t>
            </a:r>
            <a:r>
              <a:rPr lang="en-US" altLang="zh-TW" sz="1400" dirty="0">
                <a:ea typeface="標楷體" pitchFamily="65" charset="-120"/>
              </a:rPr>
              <a:t>+ (</a:t>
            </a:r>
            <a:r>
              <a:rPr lang="en-US" altLang="zh-TW" sz="1400" dirty="0">
                <a:ea typeface="標楷體" pitchFamily="65" charset="-120"/>
                <a:sym typeface="Symbol" panose="05050102010706020507" pitchFamily="18" charset="2"/>
              </a:rPr>
              <a:t>0.6)</a:t>
            </a:r>
            <a:r>
              <a:rPr lang="en-US" altLang="zh-TW" sz="1400" i="1" baseline="30000" dirty="0">
                <a:ea typeface="標楷體" pitchFamily="65" charset="-120"/>
              </a:rPr>
              <a:t>n</a:t>
            </a:r>
            <a:r>
              <a:rPr lang="en-US" altLang="zh-TW" sz="1400" baseline="30000" dirty="0">
                <a:ea typeface="標楷體" pitchFamily="65" charset="-120"/>
              </a:rPr>
              <a:t>+1</a:t>
            </a:r>
            <a:r>
              <a:rPr lang="en-US" altLang="zh-TW" sz="1400" dirty="0">
                <a:ea typeface="標楷體" pitchFamily="65" charset="-120"/>
              </a:rPr>
              <a:t>)</a:t>
            </a:r>
            <a:r>
              <a:rPr lang="en-US" altLang="zh-TW" sz="1400" i="1" dirty="0">
                <a:ea typeface="標楷體" pitchFamily="65" charset="-120"/>
              </a:rPr>
              <a:t>u</a:t>
            </a:r>
            <a:r>
              <a:rPr lang="en-US" altLang="zh-TW" sz="1400" dirty="0">
                <a:ea typeface="標楷體" pitchFamily="65" charset="-120"/>
              </a:rPr>
              <a:t>[</a:t>
            </a:r>
            <a:r>
              <a:rPr lang="en-US" altLang="zh-TW" sz="1400" i="1" dirty="0">
                <a:ea typeface="標楷體" pitchFamily="65" charset="-120"/>
              </a:rPr>
              <a:t>n</a:t>
            </a:r>
            <a:r>
              <a:rPr lang="en-US" altLang="zh-TW" sz="1400" dirty="0">
                <a:ea typeface="標楷體" pitchFamily="65" charset="-120"/>
              </a:rPr>
              <a:t>],   </a:t>
            </a:r>
            <a:r>
              <a:rPr lang="en-US" altLang="zh-TW" sz="1400" i="1" dirty="0">
                <a:ea typeface="標楷體" pitchFamily="65" charset="-120"/>
              </a:rPr>
              <a:t>u</a:t>
            </a:r>
            <a:r>
              <a:rPr lang="en-US" altLang="zh-TW" sz="1400" dirty="0">
                <a:ea typeface="標楷體" pitchFamily="65" charset="-120"/>
              </a:rPr>
              <a:t>[</a:t>
            </a:r>
            <a:r>
              <a:rPr lang="en-US" altLang="zh-TW" sz="1400" i="1" dirty="0">
                <a:ea typeface="標楷體" pitchFamily="65" charset="-120"/>
              </a:rPr>
              <a:t>n</a:t>
            </a:r>
            <a:r>
              <a:rPr lang="en-US" altLang="zh-TW" sz="1400" dirty="0">
                <a:ea typeface="標楷體" pitchFamily="65" charset="-120"/>
              </a:rPr>
              <a:t>]: unit step function        </a:t>
            </a:r>
            <a:r>
              <a:rPr lang="zh-TW" altLang="en-US" sz="1400" dirty="0">
                <a:ea typeface="標楷體" pitchFamily="65" charset="-120"/>
              </a:rPr>
              <a:t>                                                                                           </a:t>
            </a:r>
            <a:endParaRPr lang="en-US" altLang="zh-TW" sz="1400" dirty="0">
              <a:ea typeface="標楷體" pitchFamily="65" charset="-120"/>
            </a:endParaRPr>
          </a:p>
          <a:p>
            <a:pPr marL="269875" indent="-269875">
              <a:spcBef>
                <a:spcPct val="50000"/>
              </a:spcBef>
            </a:pPr>
            <a:r>
              <a:rPr lang="zh-TW" altLang="en-US" sz="1400" dirty="0">
                <a:ea typeface="標楷體" pitchFamily="65" charset="-120"/>
              </a:rPr>
              <a:t>                                                                                                                                                                                 </a:t>
            </a:r>
            <a:r>
              <a:rPr lang="en-US" altLang="zh-TW" sz="1400" dirty="0">
                <a:ea typeface="標楷體" pitchFamily="65" charset="-120"/>
              </a:rPr>
              <a:t>(10 scores)                           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C77300C-87BD-4CF9-B835-3DFE4BB22FA6}"/>
              </a:ext>
            </a:extLst>
          </p:cNvPr>
          <p:cNvSpPr/>
          <p:nvPr/>
        </p:nvSpPr>
        <p:spPr>
          <a:xfrm>
            <a:off x="178496" y="404664"/>
            <a:ext cx="8965504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9875" indent="-269875">
              <a:spcBef>
                <a:spcPts val="600"/>
              </a:spcBef>
            </a:pPr>
            <a:r>
              <a:rPr lang="en-US" altLang="zh-TW" sz="1400" dirty="0">
                <a:ea typeface="標楷體" pitchFamily="65" charset="-120"/>
              </a:rPr>
              <a:t>(2) (a) How do we convert convolution into an </a:t>
            </a:r>
            <a:r>
              <a:rPr lang="en-US" altLang="zh-TW" sz="1400" u="sng" dirty="0">
                <a:ea typeface="標楷體" pitchFamily="65" charset="-120"/>
              </a:rPr>
              <a:t>addition</a:t>
            </a:r>
            <a:r>
              <a:rPr lang="en-US" altLang="zh-TW" sz="1400" dirty="0">
                <a:ea typeface="標楷體" pitchFamily="65" charset="-120"/>
              </a:rPr>
              <a:t> operation?    </a:t>
            </a:r>
          </a:p>
          <a:p>
            <a:pPr marL="269875" indent="-269875">
              <a:spcBef>
                <a:spcPts val="600"/>
              </a:spcBef>
            </a:pPr>
            <a:r>
              <a:rPr lang="en-US" altLang="zh-TW" sz="1400" dirty="0">
                <a:ea typeface="標楷體" pitchFamily="65" charset="-120"/>
              </a:rPr>
              <a:t>      (b) What are </a:t>
            </a:r>
            <a:r>
              <a:rPr lang="en-US" altLang="zh-TW" sz="1400" u="sng" dirty="0">
                <a:ea typeface="標楷體" pitchFamily="65" charset="-120"/>
              </a:rPr>
              <a:t>two main advantages</a:t>
            </a:r>
            <a:r>
              <a:rPr lang="en-US" altLang="zh-TW" sz="1400" dirty="0">
                <a:ea typeface="標楷體" pitchFamily="65" charset="-120"/>
              </a:rPr>
              <a:t> of the FT in engineering?       </a:t>
            </a:r>
          </a:p>
          <a:p>
            <a:pPr marL="269875" indent="-269875">
              <a:spcBef>
                <a:spcPts val="600"/>
              </a:spcBef>
            </a:pPr>
            <a:r>
              <a:rPr lang="en-US" altLang="zh-TW" sz="1400" dirty="0">
                <a:ea typeface="標楷體" pitchFamily="65" charset="-120"/>
              </a:rPr>
              <a:t>      (c) From the view point of implementation, what are the </a:t>
            </a:r>
            <a:r>
              <a:rPr lang="en-US" altLang="zh-TW" sz="1400" u="sng" dirty="0">
                <a:ea typeface="標楷體" pitchFamily="65" charset="-120"/>
              </a:rPr>
              <a:t>disadvantages</a:t>
            </a:r>
            <a:r>
              <a:rPr lang="en-US" altLang="zh-TW" sz="1400" dirty="0">
                <a:ea typeface="標楷體" pitchFamily="65" charset="-120"/>
              </a:rPr>
              <a:t> of the discrete Fourier transform?     (15 scores)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5F08728-049B-4600-9C43-547EA61A152C}"/>
              </a:ext>
            </a:extLst>
          </p:cNvPr>
          <p:cNvSpPr/>
          <p:nvPr/>
        </p:nvSpPr>
        <p:spPr>
          <a:xfrm>
            <a:off x="201387" y="3480002"/>
            <a:ext cx="86419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9875" indent="-269875" algn="just">
              <a:spcBef>
                <a:spcPts val="600"/>
              </a:spcBef>
            </a:pPr>
            <a:r>
              <a:rPr lang="en-US" altLang="zh-TW" sz="1400" dirty="0">
                <a:ea typeface="標楷體" pitchFamily="65" charset="-120"/>
              </a:rPr>
              <a:t>(4) Why (a) the step invariance method and (b) the bilinear transform can reduce or avoid the </a:t>
            </a:r>
            <a:r>
              <a:rPr lang="en-US" altLang="zh-TW" sz="1400" u="sng" dirty="0">
                <a:ea typeface="標楷體" pitchFamily="65" charset="-120"/>
              </a:rPr>
              <a:t>aliasing effect</a:t>
            </a:r>
            <a:r>
              <a:rPr lang="en-US" altLang="zh-TW" sz="1400" dirty="0">
                <a:ea typeface="標楷體" pitchFamily="65" charset="-120"/>
              </a:rPr>
              <a:t> in IIR filter design?                                      </a:t>
            </a:r>
            <a:r>
              <a:rPr lang="zh-TW" altLang="en-US" sz="1400" dirty="0">
                <a:ea typeface="標楷體" pitchFamily="65" charset="-120"/>
              </a:rPr>
              <a:t>                                                                                                          </a:t>
            </a:r>
            <a:r>
              <a:rPr lang="en-US" altLang="zh-TW" sz="1400" dirty="0">
                <a:ea typeface="標楷體" pitchFamily="65" charset="-120"/>
              </a:rPr>
              <a:t>  (10 scores)</a:t>
            </a:r>
          </a:p>
        </p:txBody>
      </p:sp>
      <p:sp>
        <p:nvSpPr>
          <p:cNvPr id="22" name="Text Box 4">
            <a:extLst>
              <a:ext uri="{FF2B5EF4-FFF2-40B4-BE49-F238E27FC236}">
                <a16:creationId xmlns:a16="http://schemas.microsoft.com/office/drawing/2014/main" id="{EECB594C-436B-4FDB-AE43-4747208C7E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498" y="4825056"/>
            <a:ext cx="8641974" cy="630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69875" indent="-269875">
              <a:spcBef>
                <a:spcPct val="50000"/>
              </a:spcBef>
            </a:pPr>
            <a:r>
              <a:rPr lang="en-US" altLang="zh-TW" sz="1400" dirty="0">
                <a:ea typeface="標楷體" pitchFamily="65" charset="-120"/>
              </a:rPr>
              <a:t>(5) Design the 7-point FIR filter in the MSE sense  where the ideal filter is </a:t>
            </a:r>
            <a:r>
              <a:rPr lang="en-US" altLang="zh-TW" sz="1400" i="1" dirty="0" err="1">
                <a:ea typeface="標楷體" pitchFamily="65" charset="-120"/>
              </a:rPr>
              <a:t>H</a:t>
            </a:r>
            <a:r>
              <a:rPr lang="en-US" altLang="zh-TW" sz="1400" i="1" baseline="-25000" dirty="0" err="1">
                <a:ea typeface="標楷體" pitchFamily="65" charset="-120"/>
              </a:rPr>
              <a:t>d</a:t>
            </a:r>
            <a:r>
              <a:rPr lang="en-US" altLang="zh-TW" sz="1400" dirty="0">
                <a:ea typeface="標楷體" pitchFamily="65" charset="-120"/>
              </a:rPr>
              <a:t>(</a:t>
            </a:r>
            <a:r>
              <a:rPr lang="en-US" altLang="zh-TW" sz="1400" i="1" dirty="0">
                <a:ea typeface="標楷體" pitchFamily="65" charset="-120"/>
              </a:rPr>
              <a:t>F</a:t>
            </a:r>
            <a:r>
              <a:rPr lang="en-US" altLang="zh-TW" sz="1400" dirty="0">
                <a:ea typeface="標楷體" pitchFamily="65" charset="-120"/>
              </a:rPr>
              <a:t>) = 1 for |</a:t>
            </a:r>
            <a:r>
              <a:rPr lang="en-US" altLang="zh-TW" sz="1400" i="1" dirty="0">
                <a:ea typeface="標楷體" pitchFamily="65" charset="-120"/>
              </a:rPr>
              <a:t>F</a:t>
            </a:r>
            <a:r>
              <a:rPr lang="en-US" altLang="zh-TW" sz="1400" dirty="0">
                <a:ea typeface="標楷體" pitchFamily="65" charset="-120"/>
              </a:rPr>
              <a:t>| &lt; 0.25, </a:t>
            </a:r>
          </a:p>
          <a:p>
            <a:pPr marL="269875" indent="-269875">
              <a:spcBef>
                <a:spcPct val="50000"/>
              </a:spcBef>
            </a:pPr>
            <a:r>
              <a:rPr lang="zh-TW" altLang="en-US" sz="1400" dirty="0">
                <a:ea typeface="標楷體" pitchFamily="65" charset="-120"/>
              </a:rPr>
              <a:t>     </a:t>
            </a:r>
            <a:r>
              <a:rPr lang="en-US" altLang="zh-TW" sz="1400" dirty="0">
                <a:ea typeface="標楷體" pitchFamily="65" charset="-120"/>
              </a:rPr>
              <a:t> </a:t>
            </a:r>
            <a:r>
              <a:rPr lang="en-US" altLang="zh-TW" sz="1400" i="1" dirty="0" err="1">
                <a:ea typeface="標楷體" pitchFamily="65" charset="-120"/>
              </a:rPr>
              <a:t>H</a:t>
            </a:r>
            <a:r>
              <a:rPr lang="en-US" altLang="zh-TW" sz="1400" i="1" baseline="-25000" dirty="0" err="1">
                <a:ea typeface="標楷體" pitchFamily="65" charset="-120"/>
              </a:rPr>
              <a:t>d</a:t>
            </a:r>
            <a:r>
              <a:rPr lang="en-US" altLang="zh-TW" sz="1400" dirty="0">
                <a:ea typeface="標楷體" pitchFamily="65" charset="-120"/>
              </a:rPr>
              <a:t>(</a:t>
            </a:r>
            <a:r>
              <a:rPr lang="en-US" altLang="zh-TW" sz="1400" i="1" dirty="0">
                <a:ea typeface="標楷體" pitchFamily="65" charset="-120"/>
              </a:rPr>
              <a:t>F</a:t>
            </a:r>
            <a:r>
              <a:rPr lang="en-US" altLang="zh-TW" sz="1400" dirty="0">
                <a:ea typeface="標楷體" pitchFamily="65" charset="-120"/>
              </a:rPr>
              <a:t>) = 0 for 0.25 &lt; |</a:t>
            </a:r>
            <a:r>
              <a:rPr lang="en-US" altLang="zh-TW" sz="1400" i="1" dirty="0">
                <a:ea typeface="標楷體" pitchFamily="65" charset="-120"/>
              </a:rPr>
              <a:t>F</a:t>
            </a:r>
            <a:r>
              <a:rPr lang="en-US" altLang="zh-TW" sz="1400" dirty="0">
                <a:ea typeface="標楷體" pitchFamily="65" charset="-120"/>
              </a:rPr>
              <a:t>| &lt; 0.5                  </a:t>
            </a:r>
            <a:r>
              <a:rPr lang="zh-TW" altLang="en-US" sz="1400" dirty="0">
                <a:ea typeface="標楷體" pitchFamily="65" charset="-120"/>
              </a:rPr>
              <a:t>                                                                                                       </a:t>
            </a:r>
            <a:r>
              <a:rPr lang="en-US" altLang="zh-TW" sz="1400" dirty="0">
                <a:ea typeface="標楷體" pitchFamily="65" charset="-120"/>
              </a:rPr>
              <a:t>(10 scores)                       </a:t>
            </a:r>
          </a:p>
        </p:txBody>
      </p:sp>
      <p:sp>
        <p:nvSpPr>
          <p:cNvPr id="24" name="Text Box 4">
            <a:extLst>
              <a:ext uri="{FF2B5EF4-FFF2-40B4-BE49-F238E27FC236}">
                <a16:creationId xmlns:a16="http://schemas.microsoft.com/office/drawing/2014/main" id="{70C60A46-00B0-42DE-AF10-4FBF88B41D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387" y="5995793"/>
            <a:ext cx="113599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69875" indent="-269875">
              <a:spcBef>
                <a:spcPct val="50000"/>
              </a:spcBef>
            </a:pPr>
            <a:r>
              <a:rPr lang="en-US" altLang="zh-TW" i="1" dirty="0">
                <a:ea typeface="標楷體" pitchFamily="65" charset="-120"/>
              </a:rPr>
              <a:t>(Cont.)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867803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31">
            <a:extLst>
              <a:ext uri="{FF2B5EF4-FFF2-40B4-BE49-F238E27FC236}">
                <a16:creationId xmlns:a16="http://schemas.microsoft.com/office/drawing/2014/main" id="{AEA0C02E-1313-4489-9587-2AE80A5839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378" y="3364795"/>
            <a:ext cx="8466995" cy="328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altLang="zh-TW" sz="1400" dirty="0"/>
              <a:t>(Extra): Answer the questions according to your student ID number.</a:t>
            </a:r>
            <a:r>
              <a:rPr lang="zh-TW" altLang="en-US" sz="1400" dirty="0"/>
              <a:t> </a:t>
            </a:r>
            <a:r>
              <a:rPr lang="en-US" altLang="zh-TW" sz="1400" dirty="0"/>
              <a:t> (ended with 0, 1, 2, 3, 5, 6, 7, 8)  </a:t>
            </a:r>
          </a:p>
        </p:txBody>
      </p:sp>
      <p:sp>
        <p:nvSpPr>
          <p:cNvPr id="4" name="矩形 5">
            <a:extLst>
              <a:ext uri="{FF2B5EF4-FFF2-40B4-BE49-F238E27FC236}">
                <a16:creationId xmlns:a16="http://schemas.microsoft.com/office/drawing/2014/main" id="{5EC28E0A-10AE-45B9-A2E4-003805CDF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395" y="476672"/>
            <a:ext cx="864096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n-US" altLang="zh-TW" sz="1400" dirty="0"/>
              <a:t>(6) (a) Write two reasons why the </a:t>
            </a:r>
            <a:r>
              <a:rPr lang="en-US" altLang="zh-TW" sz="1400" u="sng" dirty="0"/>
              <a:t>transition band</a:t>
            </a:r>
            <a:r>
              <a:rPr lang="en-US" altLang="zh-TW" sz="1400" dirty="0"/>
              <a:t> plays a critical role in Minimax filter design. </a:t>
            </a:r>
          </a:p>
          <a:p>
            <a:pPr algn="just"/>
            <a:r>
              <a:rPr lang="en-US" altLang="zh-TW" sz="1400" dirty="0"/>
              <a:t>(b) Estimate the </a:t>
            </a:r>
            <a:r>
              <a:rPr lang="en-US" altLang="zh-TW" sz="1400" u="sng" dirty="0"/>
              <a:t>pass and stop band ripples</a:t>
            </a:r>
            <a:r>
              <a:rPr lang="en-US" altLang="zh-TW" sz="1400" dirty="0"/>
              <a:t> if filter length = 21, </a:t>
            </a:r>
            <a:r>
              <a:rPr lang="el-GR" altLang="zh-TW" sz="1400" dirty="0"/>
              <a:t>Δ</a:t>
            </a:r>
            <a:r>
              <a:rPr lang="en-US" altLang="zh-TW" sz="1400" i="1" baseline="-25000" dirty="0"/>
              <a:t>t</a:t>
            </a:r>
            <a:r>
              <a:rPr lang="en-US" altLang="zh-TW" sz="1400" dirty="0"/>
              <a:t>  = 0.0002, and the transition band is 1950~2050 Hz. </a:t>
            </a:r>
          </a:p>
          <a:p>
            <a:pPr algn="just"/>
            <a:r>
              <a:rPr lang="en-US" altLang="zh-TW" sz="1400" dirty="0"/>
              <a:t>(c) Estimate the </a:t>
            </a:r>
            <a:r>
              <a:rPr lang="en-US" altLang="zh-TW" sz="1400" u="sng" dirty="0"/>
              <a:t>pass and stop band ripples</a:t>
            </a:r>
            <a:r>
              <a:rPr lang="en-US" altLang="zh-TW" sz="1400" dirty="0"/>
              <a:t> if filter length = 31, </a:t>
            </a:r>
            <a:r>
              <a:rPr lang="el-GR" altLang="zh-TW" sz="1400" dirty="0"/>
              <a:t>Δ</a:t>
            </a:r>
            <a:r>
              <a:rPr lang="en-US" altLang="zh-TW" sz="1400" i="1" baseline="-25000" dirty="0"/>
              <a:t>t</a:t>
            </a:r>
            <a:r>
              <a:rPr lang="en-US" altLang="zh-TW" sz="1400" dirty="0"/>
              <a:t>  = 0.0001, and the transition band is 1750~ 2250 Hz. </a:t>
            </a:r>
          </a:p>
          <a:p>
            <a:pPr algn="just"/>
            <a:r>
              <a:rPr lang="en-US" altLang="zh-TW" sz="1400" dirty="0"/>
              <a:t>In (b)(c), suppose that pass and stop band ripples are equal.                     </a:t>
            </a:r>
            <a:r>
              <a:rPr lang="zh-TW" altLang="en-US" sz="1400" dirty="0"/>
              <a:t>                                                         </a:t>
            </a:r>
            <a:r>
              <a:rPr lang="en-US" altLang="zh-TW" sz="1400" dirty="0"/>
              <a:t>(15 scores)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983107818"/>
      </p:ext>
    </p:extLst>
  </p:cSld>
  <p:clrMapOvr>
    <a:masterClrMapping/>
  </p:clrMapOvr>
</p:sld>
</file>

<file path=ppt/theme/theme1.xml><?xml version="1.0" encoding="utf-8"?>
<a:theme xmlns:a="http://schemas.openxmlformats.org/drawingml/2006/main" name="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15849</TotalTime>
  <Words>461</Words>
  <Application>Microsoft Office PowerPoint</Application>
  <PresentationFormat>如螢幕大小 (4:3)</PresentationFormat>
  <Paragraphs>26</Paragraphs>
  <Slides>3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11" baseType="lpstr">
      <vt:lpstr>標楷體</vt:lpstr>
      <vt:lpstr>Arial</vt:lpstr>
      <vt:lpstr>Calibri</vt:lpstr>
      <vt:lpstr>Symbol</vt:lpstr>
      <vt:lpstr>Times New Roman</vt:lpstr>
      <vt:lpstr>Wingdings</vt:lpstr>
      <vt:lpstr>Wingdings 2</vt:lpstr>
      <vt:lpstr>預設簡報設計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DJJ</dc:creator>
  <cp:lastModifiedBy>M11302128</cp:lastModifiedBy>
  <cp:revision>167</cp:revision>
  <dcterms:created xsi:type="dcterms:W3CDTF">2008-03-09T11:59:35Z</dcterms:created>
  <dcterms:modified xsi:type="dcterms:W3CDTF">2025-03-17T13:49:36Z</dcterms:modified>
</cp:coreProperties>
</file>