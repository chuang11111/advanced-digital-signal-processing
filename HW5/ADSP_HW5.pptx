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75" r:id="rId2"/>
    <p:sldId id="282" r:id="rId3"/>
    <p:sldId id="281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5pPr>
    <a:lvl6pPr marL="22860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6pPr>
    <a:lvl7pPr marL="27432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7pPr>
    <a:lvl8pPr marL="32004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8pPr>
    <a:lvl9pPr marL="3657600" algn="l" defTabSz="914400" rtl="0" eaLnBrk="1" latinLnBrk="0" hangingPunct="1">
      <a:defRPr kumimoji="1" sz="2000" kern="1200">
        <a:solidFill>
          <a:schemeClr val="tx1"/>
        </a:solidFill>
        <a:latin typeface="Times New Roman" pitchFamily="18" charset="0"/>
        <a:ea typeface="標楷體" pitchFamily="65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 autoAdjust="0"/>
    <p:restoredTop sz="94687" autoAdjust="0"/>
  </p:normalViewPr>
  <p:slideViewPr>
    <p:cSldViewPr>
      <p:cViewPr varScale="1">
        <p:scale>
          <a:sx n="59" d="100"/>
          <a:sy n="59" d="100"/>
        </p:scale>
        <p:origin x="588" y="4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E5FC5B-703B-46E4-B325-7F44849A055B}" type="datetimeFigureOut">
              <a:rPr lang="zh-TW" altLang="en-US" smtClean="0"/>
              <a:pPr/>
              <a:t>2025/5/28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BAB9EB-FB86-4765-B98D-B9032752FBD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6D842E-FB4B-4380-9BC9-CA5CC505025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A5DC2D-8DE6-49BF-8F96-C3582178BE13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DCAC0B-9A5D-43E3-B1BD-9BEDB29BF29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AB0E29-961E-4FE1-943A-FA2D9322BA26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2E8B9BD-5534-4646-BD09-637A08EFA59E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3085B0-8B4F-495B-BA04-9BE0469291D4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296051-50E2-4B21-AA35-436B363DBA6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A47AF9-4382-40B7-BC7A-B7212AF3A42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187A2C-7270-4716-A085-471AC0FACAB0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08149B-A19B-48FF-872B-A5454EE4AC95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211062E-B178-4E94-A7B1-07E10EAF314B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  <a:ea typeface="+mn-ea"/>
              </a:defRPr>
            </a:lvl1pPr>
          </a:lstStyle>
          <a:p>
            <a:pPr>
              <a:defRPr/>
            </a:pPr>
            <a:fld id="{3BD72F12-1B5C-4711-A132-491A7CAF87FA}" type="slidenum">
              <a:rPr lang="en-US" altLang="zh-TW"/>
              <a:pPr>
                <a:defRPr/>
              </a:pPr>
              <a:t>‹#›</a:t>
            </a:fld>
            <a:endParaRPr lang="en-US" altLang="zh-TW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2"/>
          <p:cNvSpPr txBox="1">
            <a:spLocks noChangeArrowheads="1"/>
          </p:cNvSpPr>
          <p:nvPr/>
        </p:nvSpPr>
        <p:spPr bwMode="auto">
          <a:xfrm>
            <a:off x="323850" y="332805"/>
            <a:ext cx="360045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TW" b="1" dirty="0">
                <a:solidFill>
                  <a:srgbClr val="3333FF"/>
                </a:solidFill>
              </a:rPr>
              <a:t>Homework 5  (Due: 6/11</a:t>
            </a:r>
            <a:r>
              <a:rPr lang="en-US" altLang="zh-TW" b="1" baseline="30000" dirty="0">
                <a:solidFill>
                  <a:srgbClr val="3333FF"/>
                </a:solidFill>
              </a:rPr>
              <a:t>th</a:t>
            </a:r>
            <a:r>
              <a:rPr lang="en-US" altLang="zh-TW" b="1" dirty="0">
                <a:solidFill>
                  <a:srgbClr val="3333FF"/>
                </a:solidFill>
              </a:rPr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CCB81E-FBEF-4868-8572-557A6D4C28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" y="836712"/>
            <a:ext cx="8569325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 algn="just">
              <a:buFontTx/>
              <a:buAutoNum type="arabicParenBoth"/>
            </a:pPr>
            <a:r>
              <a:rPr lang="en-US" altLang="zh-TW" dirty="0">
                <a:ea typeface="標楷體" pitchFamily="65" charset="-120"/>
              </a:rPr>
              <a:t>Write the </a:t>
            </a:r>
            <a:r>
              <a:rPr lang="en-US" altLang="zh-TW" dirty="0" err="1">
                <a:ea typeface="標楷體" pitchFamily="65" charset="-120"/>
              </a:rPr>
              <a:t>Matlab</a:t>
            </a:r>
            <a:r>
              <a:rPr lang="en-US" altLang="zh-TW" dirty="0">
                <a:ea typeface="標楷體" pitchFamily="65" charset="-120"/>
              </a:rPr>
              <a:t> or Python code to compute the FFT of two </a:t>
            </a:r>
            <a:r>
              <a:rPr lang="en-US" altLang="zh-TW" i="1" dirty="0">
                <a:ea typeface="標楷體" pitchFamily="65" charset="-120"/>
              </a:rPr>
              <a:t>N</a:t>
            </a:r>
            <a:r>
              <a:rPr lang="en-US" altLang="zh-TW" dirty="0">
                <a:ea typeface="標楷體" pitchFamily="65" charset="-120"/>
              </a:rPr>
              <a:t>-point real signals </a:t>
            </a:r>
            <a:r>
              <a:rPr lang="en-US" altLang="zh-TW" i="1" dirty="0">
                <a:ea typeface="標楷體" pitchFamily="65" charset="-120"/>
              </a:rPr>
              <a:t>x</a:t>
            </a:r>
            <a:r>
              <a:rPr lang="en-US" altLang="zh-TW" dirty="0">
                <a:ea typeface="標楷體" pitchFamily="65" charset="-120"/>
              </a:rPr>
              <a:t> and </a:t>
            </a:r>
            <a:r>
              <a:rPr lang="en-US" altLang="zh-TW" i="1" dirty="0">
                <a:ea typeface="標楷體" pitchFamily="65" charset="-120"/>
              </a:rPr>
              <a:t>y</a:t>
            </a:r>
            <a:r>
              <a:rPr lang="en-US" altLang="zh-TW" dirty="0">
                <a:ea typeface="標楷體" pitchFamily="65" charset="-120"/>
              </a:rPr>
              <a:t> using only one </a:t>
            </a:r>
            <a:r>
              <a:rPr lang="en-US" altLang="zh-TW" i="1" dirty="0">
                <a:ea typeface="標楷體" pitchFamily="65" charset="-120"/>
              </a:rPr>
              <a:t>N</a:t>
            </a:r>
            <a:r>
              <a:rPr lang="en-US" altLang="zh-TW" dirty="0">
                <a:ea typeface="標楷體" pitchFamily="65" charset="-120"/>
              </a:rPr>
              <a:t>-point FFT.                                    (20 scores)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</a:pPr>
            <a:r>
              <a:rPr lang="en-US" altLang="zh-TW" dirty="0">
                <a:ea typeface="標楷體" pitchFamily="65" charset="-120"/>
              </a:rPr>
              <a:t>                                         [</a:t>
            </a:r>
            <a:r>
              <a:rPr lang="en-US" altLang="zh-TW" i="1" dirty="0" err="1">
                <a:ea typeface="標楷體" pitchFamily="65" charset="-120"/>
              </a:rPr>
              <a:t>Fx</a:t>
            </a:r>
            <a:r>
              <a:rPr lang="en-US" altLang="zh-TW" dirty="0">
                <a:ea typeface="標楷體" pitchFamily="65" charset="-120"/>
              </a:rPr>
              <a:t>, </a:t>
            </a:r>
            <a:r>
              <a:rPr lang="en-US" altLang="zh-TW" i="1" dirty="0" err="1">
                <a:ea typeface="標楷體" pitchFamily="65" charset="-120"/>
              </a:rPr>
              <a:t>Fy</a:t>
            </a:r>
            <a:r>
              <a:rPr lang="en-US" altLang="zh-TW" dirty="0">
                <a:ea typeface="標楷體" pitchFamily="65" charset="-120"/>
              </a:rPr>
              <a:t>] =</a:t>
            </a:r>
            <a:r>
              <a:rPr lang="en-US" altLang="zh-TW" dirty="0" err="1">
                <a:ea typeface="標楷體" pitchFamily="65" charset="-120"/>
              </a:rPr>
              <a:t>fftreal</a:t>
            </a:r>
            <a:r>
              <a:rPr lang="en-US" altLang="zh-TW" dirty="0">
                <a:ea typeface="標楷體" pitchFamily="65" charset="-120"/>
              </a:rPr>
              <a:t>(</a:t>
            </a:r>
            <a:r>
              <a:rPr lang="en-US" altLang="zh-TW" i="1" dirty="0">
                <a:ea typeface="標楷體" pitchFamily="65" charset="-120"/>
              </a:rPr>
              <a:t>x</a:t>
            </a:r>
            <a:r>
              <a:rPr lang="en-US" altLang="zh-TW" dirty="0">
                <a:ea typeface="標楷體" pitchFamily="65" charset="-120"/>
              </a:rPr>
              <a:t>, </a:t>
            </a:r>
            <a:r>
              <a:rPr lang="en-US" altLang="zh-TW" i="1" dirty="0">
                <a:ea typeface="標楷體" pitchFamily="65" charset="-120"/>
              </a:rPr>
              <a:t>y</a:t>
            </a:r>
            <a:r>
              <a:rPr lang="en-US" altLang="zh-TW" dirty="0">
                <a:ea typeface="標楷體" pitchFamily="65" charset="-120"/>
              </a:rPr>
              <a:t>) </a:t>
            </a:r>
          </a:p>
          <a:p>
            <a:pPr marL="457200" indent="-457200" algn="just"/>
            <a:r>
              <a:rPr lang="en-US" altLang="zh-TW" dirty="0">
                <a:ea typeface="標楷體" pitchFamily="65" charset="-120"/>
              </a:rPr>
              <a:t>       </a:t>
            </a:r>
            <a:r>
              <a:rPr lang="en-US" altLang="zh-TW" u="sng" dirty="0">
                <a:ea typeface="標楷體" pitchFamily="65" charset="-120"/>
              </a:rPr>
              <a:t>The code should be handed out by </a:t>
            </a:r>
            <a:r>
              <a:rPr lang="en-US" altLang="zh-TW" u="sng" dirty="0" err="1">
                <a:ea typeface="標楷體" pitchFamily="65" charset="-120"/>
                <a:cs typeface="Times New Roman" pitchFamily="18" charset="0"/>
              </a:rPr>
              <a:t>NTUCool</a:t>
            </a:r>
            <a:r>
              <a:rPr lang="en-US" altLang="zh-TW" dirty="0">
                <a:ea typeface="標楷體" pitchFamily="65" charset="-120"/>
              </a:rPr>
              <a:t>.                     </a:t>
            </a:r>
          </a:p>
        </p:txBody>
      </p:sp>
      <p:sp>
        <p:nvSpPr>
          <p:cNvPr id="12" name="Rectangle 5">
            <a:extLst>
              <a:ext uri="{FF2B5EF4-FFF2-40B4-BE49-F238E27FC236}">
                <a16:creationId xmlns:a16="http://schemas.microsoft.com/office/drawing/2014/main" id="{226DF611-13B8-4709-90FC-A71F9EBEA9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" y="2684116"/>
            <a:ext cx="8398372" cy="74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0000"/>
              </a:lnSpc>
            </a:pPr>
            <a:r>
              <a:rPr lang="en-US" altLang="zh-TW" dirty="0"/>
              <a:t>(2) Compared to the original non-sectioned convolution, what are the </a:t>
            </a:r>
            <a:r>
              <a:rPr lang="en-US" altLang="zh-TW" u="sng" dirty="0"/>
              <a:t>two main advantages</a:t>
            </a:r>
            <a:r>
              <a:rPr lang="en-US" altLang="zh-TW" dirty="0"/>
              <a:t> of the </a:t>
            </a:r>
            <a:r>
              <a:rPr lang="en-US" altLang="zh-TW" u="sng" dirty="0"/>
              <a:t>sectioned convolution</a:t>
            </a:r>
            <a:r>
              <a:rPr lang="en-US" altLang="zh-TW" dirty="0"/>
              <a:t>?                                          (7 scores)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4" name="Rectangle 7">
            <a:extLst>
              <a:ext uri="{FF2B5EF4-FFF2-40B4-BE49-F238E27FC236}">
                <a16:creationId xmlns:a16="http://schemas.microsoft.com/office/drawing/2014/main" id="{43F9E52C-9D67-4DE8-915A-15F2780043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337" y="3799076"/>
            <a:ext cx="8475368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/>
            <a:r>
              <a:rPr lang="en-US" altLang="zh-TW" dirty="0"/>
              <a:t>(3) Design an efficient way to compute the convolution operation of </a:t>
            </a:r>
          </a:p>
          <a:p>
            <a:pPr marL="457200" indent="-457200" algn="just"/>
            <a:r>
              <a:rPr lang="en-US" altLang="zh-TW" dirty="0"/>
              <a:t>                                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= </a:t>
            </a:r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* </a:t>
            </a:r>
            <a:r>
              <a:rPr lang="en-US" altLang="zh-TW" i="1" dirty="0"/>
              <a:t>h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where</a:t>
            </a:r>
          </a:p>
        </p:txBody>
      </p:sp>
      <p:graphicFrame>
        <p:nvGraphicFramePr>
          <p:cNvPr id="15" name="Object 3">
            <a:extLst>
              <a:ext uri="{FF2B5EF4-FFF2-40B4-BE49-F238E27FC236}">
                <a16:creationId xmlns:a16="http://schemas.microsoft.com/office/drawing/2014/main" id="{B39CED60-83E8-4AB6-80FB-63A4BA1664C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30765794"/>
              </p:ext>
            </p:extLst>
          </p:nvPr>
        </p:nvGraphicFramePr>
        <p:xfrm>
          <a:off x="1583481" y="4530946"/>
          <a:ext cx="42878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736880" imgH="355320" progId="Equation.DSMT4">
                  <p:embed/>
                </p:oleObj>
              </mc:Choice>
              <mc:Fallback>
                <p:oleObj name="Equation" r:id="rId2" imgW="4736880" imgH="355320" progId="Equation.DSMT4">
                  <p:embed/>
                  <p:pic>
                    <p:nvPicPr>
                      <p:cNvPr id="6" name="Object 3">
                        <a:extLst>
                          <a:ext uri="{FF2B5EF4-FFF2-40B4-BE49-F238E27FC236}">
                            <a16:creationId xmlns:a16="http://schemas.microsoft.com/office/drawing/2014/main" id="{3F93EEB1-8348-4AE8-A017-7D3C3F44920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83481" y="4530946"/>
                        <a:ext cx="4287837" cy="3556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7">
            <a:extLst>
              <a:ext uri="{FF2B5EF4-FFF2-40B4-BE49-F238E27FC236}">
                <a16:creationId xmlns:a16="http://schemas.microsoft.com/office/drawing/2014/main" id="{55BF0795-EBA2-4C0E-B937-4B36BF9761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3326" y="4466297"/>
            <a:ext cx="173932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algn="just"/>
            <a:r>
              <a:rPr lang="en-US" altLang="zh-TW" dirty="0"/>
              <a:t>-2 </a:t>
            </a:r>
            <a:r>
              <a:rPr lang="en-US" altLang="zh-TW" dirty="0">
                <a:sym typeface="Symbol" panose="05050102010706020507" pitchFamily="18" charset="2"/>
              </a:rPr>
              <a:t> </a:t>
            </a:r>
            <a:r>
              <a:rPr lang="en-US" altLang="zh-TW" i="1" dirty="0">
                <a:sym typeface="Symbol" panose="05050102010706020507" pitchFamily="18" charset="2"/>
              </a:rPr>
              <a:t>n</a:t>
            </a:r>
            <a:r>
              <a:rPr lang="en-US" altLang="zh-TW" dirty="0">
                <a:sym typeface="Symbol" panose="05050102010706020507" pitchFamily="18" charset="2"/>
              </a:rPr>
              <a:t>  3</a:t>
            </a:r>
            <a:endParaRPr lang="en-US" altLang="zh-TW" dirty="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82D64494-E3F3-4A16-AC03-988565046ECF}"/>
              </a:ext>
            </a:extLst>
          </p:cNvPr>
          <p:cNvSpPr/>
          <p:nvPr/>
        </p:nvSpPr>
        <p:spPr>
          <a:xfrm>
            <a:off x="570731" y="4869590"/>
            <a:ext cx="833753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The number of multiplications should be as small as possible.         (10 scores)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795102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3">
            <a:extLst>
              <a:ext uri="{FF2B5EF4-FFF2-40B4-BE49-F238E27FC236}">
                <a16:creationId xmlns:a16="http://schemas.microsoft.com/office/drawing/2014/main" id="{F837AF06-4193-4D64-8632-D408AD58B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332656"/>
            <a:ext cx="8424935" cy="29238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10000"/>
              </a:spcBef>
            </a:pPr>
            <a:r>
              <a:rPr lang="en-US" altLang="zh-TW" dirty="0"/>
              <a:t>(4) Suppose that length(</a:t>
            </a:r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]) = 1500. What is the best way to implement the</a:t>
            </a:r>
            <a:br>
              <a:rPr lang="en-US" altLang="zh-TW" dirty="0"/>
            </a:br>
            <a:r>
              <a:rPr lang="en-US" altLang="zh-TW" dirty="0"/>
              <a:t>     convolution of  </a:t>
            </a:r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and 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if </a:t>
            </a:r>
            <a:br>
              <a:rPr lang="en-US" altLang="zh-TW" dirty="0"/>
            </a:br>
            <a:r>
              <a:rPr lang="en-US" altLang="zh-TW" dirty="0"/>
              <a:t>               (a) length(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]) =  250,             (b) length(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]) = 50, </a:t>
            </a:r>
          </a:p>
          <a:p>
            <a:pPr>
              <a:spcBef>
                <a:spcPct val="10000"/>
              </a:spcBef>
            </a:pPr>
            <a:r>
              <a:rPr lang="en-US" altLang="zh-TW" dirty="0"/>
              <a:t>               (c) length(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]) =  10,        and (d) length(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]) = 2?                  </a:t>
            </a:r>
          </a:p>
          <a:p>
            <a:pPr algn="just">
              <a:spcBef>
                <a:spcPct val="10000"/>
              </a:spcBef>
            </a:pPr>
            <a:r>
              <a:rPr lang="en-US" altLang="zh-TW" dirty="0"/>
              <a:t>     Please show (</a:t>
            </a:r>
            <a:r>
              <a:rPr lang="en-US" altLang="zh-TW" dirty="0" err="1"/>
              <a:t>i</a:t>
            </a:r>
            <a:r>
              <a:rPr lang="en-US" altLang="zh-TW" dirty="0"/>
              <a:t>) the </a:t>
            </a:r>
            <a:r>
              <a:rPr lang="en-US" altLang="zh-TW" u="sng" dirty="0"/>
              <a:t>calculation method</a:t>
            </a:r>
            <a:r>
              <a:rPr lang="en-US" altLang="zh-TW" dirty="0"/>
              <a:t> (direct, non-sectioned convolution, or</a:t>
            </a:r>
            <a:br>
              <a:rPr lang="en-US" altLang="zh-TW" dirty="0"/>
            </a:br>
            <a:r>
              <a:rPr lang="en-US" altLang="zh-TW" dirty="0"/>
              <a:t>     sectioned convolution), (ii) the </a:t>
            </a:r>
            <a:r>
              <a:rPr lang="en-US" altLang="zh-TW" u="sng" dirty="0"/>
              <a:t>number of points of the FFT</a:t>
            </a:r>
            <a:r>
              <a:rPr lang="en-US" altLang="zh-TW" dirty="0"/>
              <a:t>, (iii) and the</a:t>
            </a:r>
            <a:br>
              <a:rPr lang="en-US" altLang="zh-TW" dirty="0"/>
            </a:br>
            <a:r>
              <a:rPr lang="en-US" altLang="zh-TW" dirty="0"/>
              <a:t>     </a:t>
            </a:r>
            <a:r>
              <a:rPr lang="en-US" altLang="zh-TW" u="sng" dirty="0"/>
              <a:t>number of real multiplications</a:t>
            </a:r>
            <a:r>
              <a:rPr lang="en-US" altLang="zh-TW" dirty="0"/>
              <a:t> for the best implementation method. Also,</a:t>
            </a:r>
            <a:br>
              <a:rPr lang="en-US" altLang="zh-TW" dirty="0"/>
            </a:br>
            <a:r>
              <a:rPr lang="en-US" altLang="zh-TW" dirty="0"/>
              <a:t>     consider the general case where </a:t>
            </a:r>
            <a:r>
              <a:rPr lang="en-US" altLang="zh-TW" i="1" dirty="0"/>
              <a:t>x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and 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are complex sequences and the</a:t>
            </a:r>
            <a:br>
              <a:rPr lang="en-US" altLang="zh-TW" dirty="0"/>
            </a:br>
            <a:r>
              <a:rPr lang="en-US" altLang="zh-TW" dirty="0"/>
              <a:t>     FFT of </a:t>
            </a:r>
            <a:r>
              <a:rPr lang="en-US" altLang="zh-TW" i="1" dirty="0"/>
              <a:t>y</a:t>
            </a:r>
            <a:r>
              <a:rPr lang="en-US" altLang="zh-TW" dirty="0"/>
              <a:t>[</a:t>
            </a:r>
            <a:r>
              <a:rPr lang="en-US" altLang="zh-TW" i="1" dirty="0"/>
              <a:t>n</a:t>
            </a:r>
            <a:r>
              <a:rPr lang="en-US" altLang="zh-TW" dirty="0"/>
              <a:t>] can be computed in prior.                                               (25 scores)</a:t>
            </a:r>
          </a:p>
        </p:txBody>
      </p:sp>
      <p:sp>
        <p:nvSpPr>
          <p:cNvPr id="18" name="Rectangle 5">
            <a:extLst>
              <a:ext uri="{FF2B5EF4-FFF2-40B4-BE49-F238E27FC236}">
                <a16:creationId xmlns:a16="http://schemas.microsoft.com/office/drawing/2014/main" id="{91E8587B-608F-4254-AE89-1470B4E954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24" y="3610556"/>
            <a:ext cx="8569325" cy="74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0000"/>
              </a:lnSpc>
            </a:pPr>
            <a:r>
              <a:rPr lang="en-US" altLang="zh-TW" dirty="0"/>
              <a:t>(5) Are the following applications </a:t>
            </a:r>
            <a:r>
              <a:rPr lang="en-US" altLang="zh-TW" u="sng" dirty="0"/>
              <a:t>suitable for the Walsh transform?</a:t>
            </a:r>
            <a:r>
              <a:rPr lang="zh-TW" altLang="en-US" u="sng" dirty="0"/>
              <a:t> </a:t>
            </a:r>
            <a:r>
              <a:rPr lang="en-US" altLang="zh-TW" u="sng" dirty="0"/>
              <a:t>Why? </a:t>
            </a:r>
            <a:r>
              <a:rPr lang="en-US" altLang="zh-TW" dirty="0"/>
              <a:t>(a) calculating the linear convolution; (b) stair-like signal analysis.          (8 scores) </a:t>
            </a:r>
            <a:endParaRPr lang="en-US" altLang="zh-TW" dirty="0">
              <a:sym typeface="Symbol" pitchFamily="18" charset="2"/>
            </a:endParaRPr>
          </a:p>
        </p:txBody>
      </p:sp>
      <p:sp>
        <p:nvSpPr>
          <p:cNvPr id="19" name="Rectangle 5">
            <a:extLst>
              <a:ext uri="{FF2B5EF4-FFF2-40B4-BE49-F238E27FC236}">
                <a16:creationId xmlns:a16="http://schemas.microsoft.com/office/drawing/2014/main" id="{47A3A870-4DA7-47FC-AE1F-53A0B0699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24" y="4581128"/>
            <a:ext cx="8569325" cy="744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342900" indent="-342900" algn="just">
              <a:lnSpc>
                <a:spcPct val="110000"/>
              </a:lnSpc>
            </a:pPr>
            <a:r>
              <a:rPr lang="en-US" altLang="zh-TW" dirty="0"/>
              <a:t>(6) What is the number of addition operations when we what to implement (a) the 32-point Walsh transform, (b) the 16-point </a:t>
            </a:r>
            <a:r>
              <a:rPr lang="en-US" altLang="zh-TW" dirty="0" err="1"/>
              <a:t>Haar</a:t>
            </a:r>
            <a:r>
              <a:rPr lang="en-US" altLang="zh-TW" dirty="0"/>
              <a:t> transform?               (10 scores)</a:t>
            </a:r>
            <a:endParaRPr lang="en-US" altLang="zh-TW" dirty="0">
              <a:sym typeface="Symbol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02918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矩形 25">
            <a:extLst>
              <a:ext uri="{FF2B5EF4-FFF2-40B4-BE49-F238E27FC236}">
                <a16:creationId xmlns:a16="http://schemas.microsoft.com/office/drawing/2014/main" id="{AD976047-666D-46D3-AACA-4FB80B380782}"/>
              </a:ext>
            </a:extLst>
          </p:cNvPr>
          <p:cNvSpPr/>
          <p:nvPr/>
        </p:nvSpPr>
        <p:spPr>
          <a:xfrm>
            <a:off x="179509" y="548680"/>
            <a:ext cx="8614909" cy="24992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10000"/>
              </a:spcBef>
            </a:pPr>
            <a:r>
              <a:rPr lang="en-US" altLang="zh-TW" dirty="0"/>
              <a:t>(7) (a) What is the results of CDMA if there are three data [1 0 1], [1 1 0], [0 1 1]</a:t>
            </a:r>
            <a:br>
              <a:rPr lang="en-US" altLang="zh-TW" dirty="0"/>
            </a:br>
            <a:r>
              <a:rPr lang="en-US" altLang="zh-TW" dirty="0"/>
              <a:t>           and these three data are modulated by the 1</a:t>
            </a:r>
            <a:r>
              <a:rPr lang="en-US" altLang="zh-TW" baseline="30000" dirty="0"/>
              <a:t>st</a:t>
            </a:r>
            <a:r>
              <a:rPr lang="en-US" altLang="zh-TW" dirty="0"/>
              <a:t>, 4</a:t>
            </a:r>
            <a:r>
              <a:rPr lang="en-US" altLang="zh-TW" baseline="30000" dirty="0"/>
              <a:t>th</a:t>
            </a:r>
            <a:r>
              <a:rPr lang="en-US" altLang="zh-TW" dirty="0"/>
              <a:t>, and 10</a:t>
            </a:r>
            <a:r>
              <a:rPr lang="en-US" altLang="zh-TW" baseline="30000" dirty="0"/>
              <a:t>th</a:t>
            </a:r>
            <a:r>
              <a:rPr lang="en-US" altLang="zh-TW" dirty="0"/>
              <a:t> rows of  the </a:t>
            </a:r>
            <a:br>
              <a:rPr lang="en-US" altLang="zh-TW" dirty="0"/>
            </a:br>
            <a:r>
              <a:rPr lang="en-US" altLang="zh-TW" dirty="0"/>
              <a:t>           16-point Walsh transform? (The beginning row is the 1</a:t>
            </a:r>
            <a:r>
              <a:rPr lang="en-US" altLang="zh-TW" baseline="30000" dirty="0"/>
              <a:t>st</a:t>
            </a:r>
            <a:r>
              <a:rPr lang="en-US" altLang="zh-TW" dirty="0"/>
              <a:t> row).    (10 scores) </a:t>
            </a:r>
          </a:p>
          <a:p>
            <a:pPr algn="just">
              <a:lnSpc>
                <a:spcPct val="110000"/>
              </a:lnSpc>
              <a:spcBef>
                <a:spcPct val="10000"/>
              </a:spcBef>
            </a:pPr>
            <a:r>
              <a:rPr lang="en-US" altLang="zh-TW" dirty="0"/>
              <a:t>      (b) In (a), if the 5</a:t>
            </a:r>
            <a:r>
              <a:rPr lang="en-US" altLang="zh-TW" baseline="30000" dirty="0"/>
              <a:t>th</a:t>
            </a:r>
            <a:r>
              <a:rPr lang="en-US" altLang="zh-TW" dirty="0"/>
              <a:t> and the 15</a:t>
            </a:r>
            <a:r>
              <a:rPr lang="en-US" altLang="zh-TW" baseline="30000" dirty="0"/>
              <a:t>h</a:t>
            </a:r>
            <a:r>
              <a:rPr lang="en-US" altLang="zh-TW" dirty="0"/>
              <a:t> entries of the CDMA results are missed, can</a:t>
            </a:r>
            <a:br>
              <a:rPr lang="en-US" altLang="zh-TW" dirty="0"/>
            </a:br>
            <a:r>
              <a:rPr lang="en-US" altLang="zh-TW" dirty="0"/>
              <a:t>             we recover the original data? Why?                                             (5 scores)</a:t>
            </a:r>
          </a:p>
          <a:p>
            <a:pPr algn="just">
              <a:lnSpc>
                <a:spcPct val="110000"/>
              </a:lnSpc>
              <a:spcBef>
                <a:spcPct val="10000"/>
              </a:spcBef>
            </a:pPr>
            <a:r>
              <a:rPr lang="en-US" altLang="zh-TW" dirty="0"/>
              <a:t>      (c) Is it proper to use the </a:t>
            </a:r>
            <a:r>
              <a:rPr lang="en-US" altLang="zh-TW" dirty="0" err="1"/>
              <a:t>Haar</a:t>
            </a:r>
            <a:r>
              <a:rPr lang="en-US" altLang="zh-TW" dirty="0"/>
              <a:t> transform instead of the Walsh transform for</a:t>
            </a:r>
            <a:br>
              <a:rPr lang="en-US" altLang="zh-TW" dirty="0"/>
            </a:br>
            <a:r>
              <a:rPr lang="en-US" altLang="zh-TW" dirty="0"/>
              <a:t>             CDMA? Why?                                                                             (5 scores)</a:t>
            </a:r>
          </a:p>
        </p:txBody>
      </p:sp>
      <p:sp>
        <p:nvSpPr>
          <p:cNvPr id="12" name="Text Box 31">
            <a:extLst>
              <a:ext uri="{FF2B5EF4-FFF2-40B4-BE49-F238E27FC236}">
                <a16:creationId xmlns:a16="http://schemas.microsoft.com/office/drawing/2014/main" id="{483D9BC7-8057-4FA2-B739-68BE5BAE7F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3465" y="3573016"/>
            <a:ext cx="8466995" cy="798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TW" dirty="0"/>
              <a:t>(Extra): Answer the questions according to your student ID number.</a:t>
            </a:r>
          </a:p>
          <a:p>
            <a:pPr algn="just">
              <a:lnSpc>
                <a:spcPct val="120000"/>
              </a:lnSpc>
              <a:spcBef>
                <a:spcPts val="0"/>
              </a:spcBef>
            </a:pPr>
            <a:r>
              <a:rPr lang="en-US" altLang="zh-TW" dirty="0"/>
              <a:t>            (ended with 1, 2, 3, 4, 6, 7, 8, 9)  </a:t>
            </a:r>
          </a:p>
        </p:txBody>
      </p:sp>
    </p:spTree>
    <p:extLst>
      <p:ext uri="{BB962C8B-B14F-4D97-AF65-F5344CB8AC3E}">
        <p14:creationId xmlns:p14="http://schemas.microsoft.com/office/powerpoint/2010/main" val="3460420670"/>
      </p:ext>
    </p:extLst>
  </p:cSld>
  <p:clrMapOvr>
    <a:masterClrMapping/>
  </p:clrMapOvr>
</p:sld>
</file>

<file path=ppt/theme/theme1.xml><?xml version="1.0" encoding="utf-8"?>
<a:theme xmlns:a="http://schemas.openxmlformats.org/drawingml/2006/main" name="預設簡報設計">
  <a:themeElements>
    <a:clrScheme name="預設簡報設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預設簡報設計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預設簡報設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預設簡報設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預設簡報設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5361</TotalTime>
  <Words>548</Words>
  <Application>Microsoft Office PowerPoint</Application>
  <PresentationFormat>如螢幕大小 (4:3)</PresentationFormat>
  <Paragraphs>19</Paragraphs>
  <Slides>3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10" baseType="lpstr">
      <vt:lpstr>標楷體</vt:lpstr>
      <vt:lpstr>Arial</vt:lpstr>
      <vt:lpstr>Calibri</vt:lpstr>
      <vt:lpstr>Symbol</vt:lpstr>
      <vt:lpstr>Times New Roman</vt:lpstr>
      <vt:lpstr>預設簡報設計</vt:lpstr>
      <vt:lpstr>Equation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DJJ</dc:creator>
  <cp:lastModifiedBy>M11302128</cp:lastModifiedBy>
  <cp:revision>330</cp:revision>
  <dcterms:created xsi:type="dcterms:W3CDTF">2008-03-09T11:59:35Z</dcterms:created>
  <dcterms:modified xsi:type="dcterms:W3CDTF">2025-05-28T11:28:07Z</dcterms:modified>
</cp:coreProperties>
</file>